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600" b="1" i="0">
                <a:solidFill>
                  <a:srgbClr val="FFFFFF"/>
                </a:solidFill>
                <a:latin typeface="Calibri"/>
              </a:rPr>
              <a:t>Permission-Tiered Admin Panel</a:t>
            </a:r>
          </a:p>
          <a:p>
            <a:r>
              <a:rPr sz="2200" b="0" i="0">
                <a:solidFill>
                  <a:srgbClr val="CBD5E1"/>
                </a:solidFill>
                <a:latin typeface="Calibri"/>
              </a:rPr>
              <a:t>Role-based access control on Ethereum — smart contract + React dApp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4348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i="0">
                <a:solidFill>
                  <a:srgbClr val="93C5FD"/>
                </a:solidFill>
                <a:latin typeface="Calibri"/>
              </a:rPr>
              <a:t>Owner · Moderator · Regular User — enforced on-chain, surfaced in the UI</a:t>
            </a:r>
          </a:p>
          <a:p>
            <a:r>
              <a:rPr sz="1600" b="0" i="0">
                <a:solidFill>
                  <a:srgbClr val="E2E8F0"/>
                </a:solidFill>
                <a:latin typeface="Calibri"/>
              </a:rPr>
              <a:t>Presented by  &lt;Your Name&gt;</a:t>
            </a:r>
          </a:p>
          <a:p>
            <a:r>
              <a:rPr sz="1400" b="0" i="0">
                <a:solidFill>
                  <a:srgbClr val="6B7280"/>
                </a:solidFill>
                <a:latin typeface="Calibri"/>
              </a:rPr>
              <a:t>Deployed &amp; verified on Sepolia testnet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 i="0">
                <a:solidFill>
                  <a:srgbClr val="0F172A"/>
                </a:solidFill>
                <a:latin typeface="Calibri"/>
              </a:rPr>
              <a:t>The Problem &amp;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0"/>
            <a:ext cx="110642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0F172A"/>
                </a:solidFill>
                <a:latin typeface="Calibri"/>
              </a:rPr>
              <a:t>•  Admin systems need tiered permissions — not everyone should do everything.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0F172A"/>
                </a:solidFill>
                <a:latin typeface="Calibri"/>
              </a:rPr>
              <a:t>•  Traditional backends enforce this in private, tamper-able server code.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7C3AED"/>
                </a:solidFill>
                <a:latin typeface="Calibri"/>
              </a:rPr>
              <a:t>•  Goal: enforce the permission tiers on-chain, where the rules are public and verifiable.</a:t>
            </a:r>
          </a:p>
          <a:p>
            <a:pPr lvl="1">
              <a:spcAft>
                <a:spcPts val="800"/>
              </a:spcAft>
            </a:pPr>
            <a:r>
              <a:rPr sz="1800" b="0" i="0">
                <a:solidFill>
                  <a:srgbClr val="475569"/>
                </a:solidFill>
                <a:latin typeface="Calibri"/>
              </a:rPr>
              <a:t>–  Three roles: Owner (full control), Moderator (user moderation), Regular User (self-service).</a:t>
            </a:r>
          </a:p>
          <a:p>
            <a:pPr lvl="1">
              <a:spcAft>
                <a:spcPts val="800"/>
              </a:spcAft>
            </a:pPr>
            <a:r>
              <a:rPr sz="1800" b="0" i="0">
                <a:solidFill>
                  <a:srgbClr val="475569"/>
                </a:solidFill>
                <a:latin typeface="Calibri"/>
              </a:rPr>
              <a:t>–  A UI that shows only the actions a wallet may perform — and clearly explains why the rest are locked.</a:t>
            </a:r>
          </a:p>
          <a:p>
            <a:pPr lvl="1">
              <a:spcAft>
                <a:spcPts val="800"/>
              </a:spcAft>
            </a:pPr>
            <a:r>
              <a:rPr sz="1800" b="0" i="0">
                <a:solidFill>
                  <a:srgbClr val="475569"/>
                </a:solidFill>
                <a:latin typeface="Calibri"/>
              </a:rPr>
              <a:t>–  Anyone can independently verify the rules and every action on Etherscan.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Permission-Tiered Admin Panel  ·  Sepolia testnet  ·  Solidity + React + ethers v6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 i="0">
                <a:solidFill>
                  <a:srgbClr val="0F172A"/>
                </a:solidFill>
                <a:latin typeface="Calibri"/>
              </a:rPr>
              <a:t>What I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0"/>
            <a:ext cx="110642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0F172A"/>
                </a:solidFill>
                <a:latin typeface="Calibri"/>
              </a:rPr>
              <a:t>•  A smart contract — AdminPanel.sol (Solidity 0.8.20, OpenZeppelin AccessControl).</a:t>
            </a:r>
          </a:p>
          <a:p>
            <a:pPr lvl="1">
              <a:spcAft>
                <a:spcPts val="800"/>
              </a:spcAft>
            </a:pPr>
            <a:r>
              <a:rPr sz="1800" b="0" i="0">
                <a:solidFill>
                  <a:srgbClr val="475569"/>
                </a:solidFill>
                <a:latin typeface="Calibri"/>
              </a:rPr>
              <a:t>–  Three roles enforced by onlyRole modifiers; emits audit events for every action.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0F172A"/>
                </a:solidFill>
                <a:latin typeface="Calibri"/>
              </a:rPr>
              <a:t>•  A React frontend (React 18 + ethers v6 + Tailwind).</a:t>
            </a:r>
          </a:p>
          <a:p>
            <a:pPr lvl="1">
              <a:spcAft>
                <a:spcPts val="800"/>
              </a:spcAft>
            </a:pPr>
            <a:r>
              <a:rPr sz="1800" b="0" i="0">
                <a:solidFill>
                  <a:srgbClr val="475569"/>
                </a:solidFill>
                <a:latin typeface="Calibri"/>
              </a:rPr>
              <a:t>–  Connects MetaMask, detects the wallet's role, renders the matching dashboard.</a:t>
            </a:r>
          </a:p>
          <a:p>
            <a:pPr lvl="1">
              <a:spcAft>
                <a:spcPts val="800"/>
              </a:spcAft>
            </a:pPr>
            <a:r>
              <a:rPr sz="1800" b="0" i="0">
                <a:solidFill>
                  <a:srgbClr val="475569"/>
                </a:solidFill>
                <a:latin typeface="Calibri"/>
              </a:rPr>
              <a:t>–  Permission-aware buttons + transaction feedback with Etherscan links.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6A34A"/>
                </a:solidFill>
                <a:latin typeface="Calibri"/>
              </a:rPr>
              <a:t>•  Deployed &amp; verified on Sepolia; 25 passing automated tests; independently testable.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Permission-Tiered Admin Panel  ·  Sepolia testnet  ·  Solidity + React + ethers v6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 i="0">
                <a:solidFill>
                  <a:srgbClr val="0F172A"/>
                </a:solidFill>
                <a:latin typeface="Calibri"/>
              </a:rPr>
              <a:t>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286000"/>
            <a:ext cx="2514600" cy="1463040"/>
          </a:xfrm>
          <a:prstGeom prst="roundRect">
            <a:avLst/>
          </a:prstGeom>
          <a:solidFill>
            <a:srgbClr val="6B728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MetaMask Wallet</a:t>
            </a:r>
          </a:p>
          <a:p>
            <a:pPr algn="ctr"/>
            <a:r>
              <a:rPr sz="1100" b="0" i="0">
                <a:solidFill>
                  <a:srgbClr val="F1F5F9"/>
                </a:solidFill>
                <a:latin typeface="Calibri"/>
              </a:rPr>
              <a:t>EIP-1193 signer</a:t>
            </a:r>
            <a:br/>
            <a:r>
              <a:rPr sz="1100" b="0" i="0">
                <a:solidFill>
                  <a:srgbClr val="F1F5F9"/>
                </a:solidFill>
                <a:latin typeface="Calibri"/>
              </a:rPr>
              <a:t>user's account &amp; role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2286000"/>
            <a:ext cx="2514600" cy="1463040"/>
          </a:xfrm>
          <a:prstGeom prst="roundRect">
            <a:avLst/>
          </a:prstGeom>
          <a:solidFill>
            <a:srgbClr val="2563E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React + ethers v6 UI</a:t>
            </a:r>
          </a:p>
          <a:p>
            <a:pPr algn="ctr"/>
            <a:r>
              <a:rPr sz="1100" b="0" i="0">
                <a:solidFill>
                  <a:srgbClr val="F1F5F9"/>
                </a:solidFill>
                <a:latin typeface="Calibri"/>
              </a:rPr>
              <a:t>useWallet · useRole</a:t>
            </a:r>
            <a:br/>
            <a:r>
              <a:rPr sz="1100" b="0" i="0">
                <a:solidFill>
                  <a:srgbClr val="F1F5F9"/>
                </a:solidFill>
                <a:latin typeface="Calibri"/>
              </a:rPr>
              <a:t>useContract · dashboards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286000"/>
            <a:ext cx="2514600" cy="1463040"/>
          </a:xfrm>
          <a:prstGeom prst="roundRect">
            <a:avLst/>
          </a:prstGeom>
          <a:solidFill>
            <a:srgbClr val="7C3AE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AdminPanel.sol</a:t>
            </a:r>
          </a:p>
          <a:p>
            <a:pPr algn="ctr"/>
            <a:r>
              <a:rPr sz="1100" b="0" i="0">
                <a:solidFill>
                  <a:srgbClr val="F1F5F9"/>
                </a:solidFill>
                <a:latin typeface="Calibri"/>
              </a:rPr>
              <a:t>AccessControl</a:t>
            </a:r>
            <a:br/>
            <a:r>
              <a:rPr sz="1100" b="0" i="0">
                <a:solidFill>
                  <a:srgbClr val="F1F5F9"/>
                </a:solidFill>
                <a:latin typeface="Calibri"/>
              </a:rPr>
              <a:t>onlyRole + events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89720" y="2286000"/>
            <a:ext cx="2514600" cy="1463040"/>
          </a:xfrm>
          <a:prstGeom prst="roundRect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Etherscan (Sepolia)</a:t>
            </a:r>
          </a:p>
          <a:p>
            <a:pPr algn="ctr"/>
            <a:r>
              <a:rPr sz="1100" b="0" i="0">
                <a:solidFill>
                  <a:srgbClr val="F1F5F9"/>
                </a:solidFill>
                <a:latin typeface="Calibri"/>
              </a:rPr>
              <a:t>verified source</a:t>
            </a:r>
            <a:br/>
            <a:r>
              <a:rPr sz="1100" b="0" i="0">
                <a:solidFill>
                  <a:srgbClr val="F1F5F9"/>
                </a:solidFill>
                <a:latin typeface="Calibri"/>
              </a:rPr>
              <a:t>AuditLog events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63240" y="3017520.0"/>
            <a:ext cx="365760" cy="0.0"/>
          </a:xfrm>
          <a:prstGeom prst="line">
            <a:avLst/>
          </a:prstGeom>
          <a:ln w="2857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943600" y="3017520.0"/>
            <a:ext cx="365760" cy="0.0"/>
          </a:xfrm>
          <a:prstGeom prst="line">
            <a:avLst/>
          </a:prstGeom>
          <a:ln w="2857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823960" y="3017520.0"/>
            <a:ext cx="365760" cy="0.0"/>
          </a:xfrm>
          <a:prstGeom prst="line">
            <a:avLst/>
          </a:prstGeom>
          <a:ln w="28575">
            <a:solidFill>
              <a:srgbClr val="4755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6928" y="4206240"/>
            <a:ext cx="109728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2563EB"/>
                </a:solidFill>
                <a:latin typeface="Calibri"/>
              </a:rPr>
              <a:t>•  Role detection uses the public getUserRole(account) view — works from any provider.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475569"/>
                </a:solidFill>
                <a:latin typeface="Calibri"/>
              </a:rPr>
              <a:t>•  Writes &amp; role-guarded views (getAllUsers, getUserCount, getMyProfile) go through the wallet signer, so msg.sender is the connected account.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EA580C"/>
                </a:solidFill>
                <a:latin typeface="Calibri"/>
              </a:rPr>
              <a:t>•  Every state change emits an event, so the contract's history is auditable on Etherscan.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Permission-Tiered Admin Panel  ·  Sepolia testnet  ·  Solidity + React + ethers v6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 i="0">
                <a:solidFill>
                  <a:srgbClr val="0F172A"/>
                </a:solidFill>
                <a:latin typeface="Calibri"/>
              </a:rPr>
              <a:t>Three Roles &amp; the Permission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 i="1">
                <a:solidFill>
                  <a:srgbClr val="475569"/>
                </a:solidFill>
                <a:latin typeface="Calibri"/>
              </a:rPr>
              <a:t>The owner holds all three roles, so it is a true superset of every action.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" y="1828800"/>
          <a:ext cx="110642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1325880"/>
                <a:gridCol w="1325880"/>
                <a:gridCol w="1325880"/>
                <a:gridCol w="1325880"/>
              </a:tblGrid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Action group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anchor="ctr"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Moderator</a:t>
                      </a:r>
                    </a:p>
                  </a:txBody>
                  <a:tcPr anchor="ctr"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User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Public</a:t>
                      </a:r>
                    </a:p>
                  </a:txBody>
                  <a:tcPr anchor="ctr">
                    <a:solidFill>
                      <a:srgbClr val="6B728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Manage users &amp; roles · settings · view all users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DC2626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DC2626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DC2626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Moderate: de/reactivate · approve content · user count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DC2626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DC2626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Profile &amp; feedback: update profile · submit feedback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DC2626"/>
                          </a:solidFill>
                          <a:latin typeface="Calibri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F172A"/>
                          </a:solidFill>
                          <a:latin typeface="Calibri"/>
                        </a:rPr>
                        <a:t>Read role · settings · active status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16A34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Permission-Tiered Admin Panel  ·  Sepolia testnet  ·  Solidity + React + ethers v6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 i="0">
                <a:solidFill>
                  <a:srgbClr val="0F172A"/>
                </a:solidFill>
                <a:latin typeface="Calibri"/>
              </a:rPr>
              <a:t>Permission-Aware UI  (the key requirement)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 i="1">
                <a:solidFill>
                  <a:srgbClr val="475569"/>
                </a:solidFill>
                <a:latin typeface="Calibri"/>
              </a:rPr>
              <a:t>Never silently hide an action — always explain why it is unavailable.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00"/>
            <a:ext cx="110642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0F172A"/>
                </a:solidFill>
                <a:latin typeface="Calibri"/>
              </a:rPr>
              <a:t>•  Color-coded role badge: OWNER (purple), MODERATOR (orange), REGULAR_USER (blue), NONE (gray).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6A34A"/>
                </a:solidFill>
                <a:latin typeface="Calibri"/>
              </a:rPr>
              <a:t>•  Allowed action  →  a normal, enabled button.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DC2626"/>
                </a:solidFill>
                <a:latin typeface="Calibri"/>
              </a:rPr>
              <a:t>•  Disallowed action  →  the button is shown but visibly greyed, never hidden.</a:t>
            </a:r>
          </a:p>
          <a:p>
            <a:pPr lvl="1">
              <a:spcAft>
                <a:spcPts val="800"/>
              </a:spcAft>
            </a:pPr>
            <a:r>
              <a:rPr sz="1800" b="0" i="0">
                <a:solidFill>
                  <a:srgbClr val="475569"/>
                </a:solidFill>
                <a:latin typeface="Calibri"/>
              </a:rPr>
              <a:t>–  Inline message states the requirement and your actual role:</a:t>
            </a:r>
          </a:p>
          <a:p>
            <a:pPr lvl="1">
              <a:spcAft>
                <a:spcPts val="800"/>
              </a:spcAft>
            </a:pPr>
            <a:r>
              <a:rPr sz="1800" b="0" i="0">
                <a:solidFill>
                  <a:srgbClr val="7C3AED"/>
                </a:solidFill>
                <a:latin typeface="Calibri"/>
              </a:rPr>
              <a:t>–  “🔒 Requires OWNER role — your wallet is MODERATOR”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2563EB"/>
                </a:solidFill>
                <a:latin typeface="Calibri"/>
              </a:rPr>
              <a:t>•  Every write shows pending → success (with a Sepolia Etherscan link) → or a human-readable error.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475569"/>
                </a:solidFill>
                <a:latin typeface="Calibri"/>
              </a:rPr>
              <a:t>•  Mobile-responsive via Tailwind; re-detects role on account / network change.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Permission-Tiered Admin Panel  ·  Sepolia testnet  ·  Solidity + React + ethers v6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 i="0">
                <a:solidFill>
                  <a:srgbClr val="0F172A"/>
                </a:solidFill>
                <a:latin typeface="Calibri"/>
              </a:rPr>
              <a:t>Smart Contract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0"/>
            <a:ext cx="110642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0F172A"/>
                </a:solidFill>
                <a:latin typeface="Calibri"/>
              </a:rPr>
              <a:t>•  OpenZeppelin AccessControl with three keccak256 role identifiers + onlyRole guards.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7C3AED"/>
                </a:solidFill>
                <a:latin typeface="Calibri"/>
              </a:rPr>
              <a:t>•  Constructor grants the deployer all three roles → owner can perform every gated action.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2563EB"/>
                </a:solidFill>
                <a:latin typeface="Calibri"/>
              </a:rPr>
              <a:t>•  Six event types (incl. AuditLog) record every action for an on-chain audit trail.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6A34A"/>
                </a:solidFill>
                <a:latin typeface="Calibri"/>
              </a:rPr>
              <a:t>•  25 automated tests cover every tier, including revert cases for disallowed calls.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475569"/>
                </a:solidFill>
                <a:latin typeface="Calibri"/>
              </a:rPr>
              <a:t>•  No secrets in the repo: keys live in a git-ignored .env; placeholders in .env.example.</a:t>
            </a:r>
          </a:p>
          <a:p>
            <a:pPr lvl="1">
              <a:spcAft>
                <a:spcPts val="800"/>
              </a:spcAft>
            </a:pPr>
            <a:r>
              <a:rPr sz="1800" b="0" i="0">
                <a:solidFill>
                  <a:srgbClr val="475569"/>
                </a:solidFill>
                <a:latin typeface="Calibri"/>
              </a:rPr>
              <a:t>–  Test wallets are disposable, testnet-only — never reused for mainnet.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Permission-Tiered Admin Panel  ·  Sepolia testnet  ·  Solidity + React + ethers v6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 i="0">
                <a:solidFill>
                  <a:srgbClr val="0F172A"/>
                </a:solidFill>
                <a:latin typeface="Calibri"/>
              </a:rPr>
              <a:t>Live Demo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0" i="1">
                <a:solidFill>
                  <a:srgbClr val="475569"/>
                </a:solidFill>
                <a:latin typeface="Calibri"/>
              </a:rPr>
              <a:t>A short scripted run that demonstrates all four role states end-to-end.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828800"/>
            <a:ext cx="110642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7C3AED"/>
                </a:solidFill>
                <a:latin typeface="Calibri"/>
              </a:rPr>
              <a:t>•  Connect the Owner wallet → badge turns OWNER → register a user, promote a moderator, edit a setting.</a:t>
            </a:r>
          </a:p>
          <a:p>
            <a:pPr lvl="1">
              <a:spcAft>
                <a:spcPts val="800"/>
              </a:spcAft>
            </a:pPr>
            <a:r>
              <a:rPr sz="1800" b="0" i="0">
                <a:solidFill>
                  <a:srgbClr val="475569"/>
                </a:solidFill>
                <a:latin typeface="Calibri"/>
              </a:rPr>
              <a:t>–  Each action: pending → success → click the Etherscan link to see the real transaction.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EA580C"/>
                </a:solidFill>
                <a:latin typeface="Calibri"/>
              </a:rPr>
              <a:t>•  Switch to the Moderator wallet → badge MODERATOR → deactivate/reactivate a user.</a:t>
            </a:r>
          </a:p>
          <a:p>
            <a:pPr lvl="1">
              <a:spcAft>
                <a:spcPts val="800"/>
              </a:spcAft>
            </a:pPr>
            <a:r>
              <a:rPr sz="1800" b="0" i="0">
                <a:solidFill>
                  <a:srgbClr val="475569"/>
                </a:solidFill>
                <a:latin typeface="Calibri"/>
              </a:rPr>
              <a:t>–  Owner-only buttons appear greyed with “Requires OWNER role — your wallet is MODERATOR”.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2563EB"/>
                </a:solidFill>
                <a:latin typeface="Calibri"/>
              </a:rPr>
              <a:t>•  Switch to the Regular-User wallet → badge REGULAR_USER → edit profile, submit feedback.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6B7280"/>
                </a:solidFill>
                <a:latin typeface="Calibri"/>
              </a:rPr>
              <a:t>•  Connect a fresh wallet → NONE → locked-out state, every gated action disabled with a reason.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Permission-Tiered Admin Panel  ·  Sepolia testnet  ·  Solidity + React + ethers v6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 i="0">
                <a:solidFill>
                  <a:srgbClr val="0F172A"/>
                </a:solidFill>
                <a:latin typeface="Calibri"/>
              </a:rPr>
              <a:t>Independent Testing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63040"/>
            <a:ext cx="110642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0" i="0">
                <a:solidFill>
                  <a:srgbClr val="0F172A"/>
                </a:solidFill>
                <a:latin typeface="Calibri"/>
              </a:rPr>
              <a:t>•  Verified contract source on Etherscan — anyone can read the exact rules being enforced.</a:t>
            </a:r>
          </a:p>
          <a:p>
            <a:pPr lvl="1">
              <a:spcAft>
                <a:spcPts val="800"/>
              </a:spcAft>
            </a:pPr>
            <a:r>
              <a:rPr sz="1800" b="0" i="0">
                <a:solidFill>
                  <a:srgbClr val="2563EB"/>
                </a:solidFill>
                <a:latin typeface="Calibri"/>
              </a:rPr>
              <a:t>–  0x18a5883dA6302e13021910235Cb74653b8804505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EA580C"/>
                </a:solidFill>
                <a:latin typeface="Calibri"/>
              </a:rPr>
              <a:t>•  Etherscan “Events” tab shows AuditLog / UserStatusChanged appear after each action.</a:t>
            </a:r>
          </a:p>
          <a:p>
            <a:pPr>
              <a:spcAft>
                <a:spcPts val="800"/>
              </a:spcAft>
            </a:pPr>
            <a:r>
              <a:rPr sz="2000" b="0" i="0">
                <a:solidFill>
                  <a:srgbClr val="0F172A"/>
                </a:solidFill>
                <a:latin typeface="Calibri"/>
              </a:rPr>
              <a:t>•  grantTestRoles.js: owner-run, re-run-safe script that assigns tester wallets their roles.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16A34A"/>
                </a:solidFill>
                <a:latin typeface="Calibri"/>
              </a:rPr>
              <a:t>•  TESTING_HANDOFF.md: a fill-in-the-blanks guide with a per-role verification checklist.</a:t>
            </a:r>
          </a:p>
          <a:p>
            <a:pPr lvl="1">
              <a:spcAft>
                <a:spcPts val="800"/>
              </a:spcAft>
            </a:pPr>
            <a:r>
              <a:rPr sz="1800" b="0" i="0">
                <a:solidFill>
                  <a:srgbClr val="475569"/>
                </a:solidFill>
                <a:latin typeface="Calibri"/>
              </a:rPr>
              <a:t>–  A third party can reproduce every result without trusting the 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Permission-Tiered Admin Panel  ·  Sepolia testnet  ·  Solidity + React + ethers v6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0080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3736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104241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1900" b="0" i="0">
                <a:solidFill>
                  <a:srgbClr val="E2E8F0"/>
                </a:solidFill>
                <a:latin typeface="Calibri"/>
              </a:rPr>
              <a:t>•  Delivered a permission-tiered admin panel: on-chain access control + a role-aware dApp.</a:t>
            </a:r>
          </a:p>
          <a:p>
            <a:pPr>
              <a:spcAft>
                <a:spcPts val="1200"/>
              </a:spcAft>
            </a:pPr>
            <a:r>
              <a:rPr sz="1900" b="0" i="0">
                <a:solidFill>
                  <a:srgbClr val="C4B5FD"/>
                </a:solidFill>
                <a:latin typeface="Calibri"/>
              </a:rPr>
              <a:t>•  Three roles enforced in Solidity; the UI exposes only allowed actions and explains every lock.</a:t>
            </a:r>
          </a:p>
          <a:p>
            <a:pPr>
              <a:spcAft>
                <a:spcPts val="1200"/>
              </a:spcAft>
            </a:pPr>
            <a:r>
              <a:rPr sz="1900" b="0" i="0">
                <a:solidFill>
                  <a:srgbClr val="93C5FD"/>
                </a:solidFill>
                <a:latin typeface="Calibri"/>
              </a:rPr>
              <a:t>•  Deployed &amp; verified on Sepolia; 25 passing tests; full independent-testing handoff.</a:t>
            </a:r>
          </a:p>
          <a:p>
            <a:pPr>
              <a:spcAft>
                <a:spcPts val="1200"/>
              </a:spcAft>
            </a:pPr>
            <a:r>
              <a:rPr sz="1900" b="0" i="0">
                <a:solidFill>
                  <a:srgbClr val="CBD5E1"/>
                </a:solidFill>
                <a:latin typeface="Calibri"/>
              </a:rPr>
              <a:t>•  Stack: Solidity 0.8.20 · OpenZeppelin · Hardhat · React 18 · ethers v6 · Tailwind.</a:t>
            </a:r>
          </a:p>
          <a:p>
            <a:pPr>
              <a:spcBef>
                <a:spcPts val="1800"/>
              </a:spcBef>
            </a:pPr>
            <a:r>
              <a:rPr sz="1800" b="1" i="0">
                <a:solidFill>
                  <a:srgbClr val="86EFAC"/>
                </a:solidFill>
                <a:latin typeface="Calibri"/>
              </a:rPr>
              <a:t>Thank you —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